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48472" y="0"/>
            <a:ext cx="3840480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348472" y="0"/>
            <a:ext cx="54864" cy="685800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Legal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3B82F6"/>
                </a:solidFill>
              </a:rPr>
              <a:t>for SMB Kazakhstan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50292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3C5FD"/>
                </a:solidFill>
              </a:rPr>
              <a:t>Agentic RAG  |  Multilingual  |  Live Government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Guldana Kassym-Ashim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</a:rPr>
              <a:t>EPAM  Generative AI for Software Development  May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983480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50932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05663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Agentic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49240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Retry loop, 3 attempts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983480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08960" y="4983480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36976" y="50932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05663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MCP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5349240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Live gov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983480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60720" y="4983480"/>
            <a:ext cx="54864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88736" y="50932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5663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RAGAS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5349240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Quality per response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733288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5733288"/>
            <a:ext cx="54864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5216" y="584301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5806440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Multilingual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6099048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Kazakh / English / Russian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08960" y="5733288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108960" y="5733288"/>
            <a:ext cx="54864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36976" y="584301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9312" y="5806440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LangFuse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9312" y="6099048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Full observability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0" y="5733288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760720" y="5733288"/>
            <a:ext cx="54864" cy="658368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888736" y="584301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5806440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6EBE"/>
                </a:solidFill>
              </a:rPr>
              <a:t>Custom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6099048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Upload your own docs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14232" y="10058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14232" y="16459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Nodes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4232" y="23774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4232" y="30175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AI Agents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14232" y="37490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14232" y="4389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Legal Codes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14232" y="51206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14232" y="57607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Gov Sources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Problem Does This Solve?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7"/>
                </a:solidFill>
              </a:rPr>
              <a:t>Legal compliance is expensive and complex for SMBs in Kazakhstan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566160" cy="2377440"/>
          </a:xfrm>
          <a:prstGeom prst="roundRect">
            <a:avLst>
              <a:gd name="adj" fmla="val 7000"/>
            </a:avLst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F172A"/>
                </a:solidFill>
              </a:rP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</a:rPr>
              <a:t>High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7"/>
                </a:solidFill>
              </a:rPr>
              <a:t>Legal consultations
$50–200 per hour.
SMBs can't afford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566160" cy="2377440"/>
          </a:xfrm>
          <a:prstGeom prst="roundRect">
            <a:avLst>
              <a:gd name="adj" fmla="val 7000"/>
            </a:avLst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234440"/>
            <a:ext cx="356616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F172A"/>
                </a:solidFill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B82F6"/>
                </a:solidFill>
              </a:rPr>
              <a:t>Complexity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90195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7"/>
                </a:solidFill>
              </a:rPr>
              <a:t>4 legal codes, 2000+ pages.
Laws change constantly.
Hard to stay updated.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34440"/>
            <a:ext cx="3566160" cy="2377440"/>
          </a:xfrm>
          <a:prstGeom prst="roundRect">
            <a:avLst>
              <a:gd name="adj" fmla="val 7000"/>
            </a:avLst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356616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3258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F172A"/>
                </a:solidFill>
              </a:rPr>
              <a:t>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Language Barrier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0195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7"/>
                </a:solidFill>
              </a:rPr>
              <a:t>Kazakh, English, Russian.
No single accessible source.
Errors lead to fines.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6732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💰  Cost Comparison &amp; ROI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06240"/>
            <a:ext cx="3566160" cy="1234440"/>
          </a:xfrm>
          <a:prstGeom prst="roundRect">
            <a:avLst>
              <a:gd name="adj" fmla="val 7000"/>
            </a:avLst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👨‍⚖️  Lawyer (1 hour)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81728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$20 – $100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1663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Traditional consultation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206240"/>
            <a:ext cx="3566160" cy="1234440"/>
          </a:xfrm>
          <a:prstGeom prst="roundRect">
            <a:avLst>
              <a:gd name="adj" fmla="val 7000"/>
            </a:avLst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97680" y="4206240"/>
            <a:ext cx="54864" cy="1234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4297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📋  PRG / Paragraf (KZ)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681728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$17 – $45/mo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1663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Kazakhstan legal DB subscription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66160" cy="1234440"/>
          </a:xfrm>
          <a:prstGeom prst="roundRect">
            <a:avLst>
              <a:gd name="adj" fmla="val 7000"/>
            </a:avLst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4206240"/>
            <a:ext cx="54864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75320" y="4297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🤖  My AI assistant (1 query)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681728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~$0.01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51663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1,000 queries ≈ $8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77840"/>
            <a:ext cx="11274552" cy="658368"/>
          </a:xfrm>
          <a:prstGeom prst="roundRect">
            <a:avLst>
              <a:gd name="adj" fmla="val 7000"/>
            </a:avLst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65099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ROI: up to 10,000× cheaper than a lawyer  •  Unlimited legal access  •  Answers in seconds, not days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7"/>
                </a:solidFill>
              </a:rPr>
              <a:t>Production-grade components — all integrated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54864" cy="23317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</a:rP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Agentic orchestration
11 nodes, conditional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6120" y="1261872"/>
            <a:ext cx="54864" cy="233172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6EBE"/>
                </a:solidFill>
              </a:rPr>
              <a:t>GPT-4.1-mini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LLM for all agents
Generation, grading
&amp; re-ranking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1261872"/>
            <a:ext cx="54864" cy="2331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399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Hybrid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ChromaDB vector search
+ BM25 keyword search
RRF Fusion — best of 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1261872"/>
            <a:ext cx="54864" cy="2331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Custom FastMCP server
adilet.zan.kz + kgd.gov.kz
+ egov.kz live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3730752"/>
            <a:ext cx="54864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RAGAS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370832"/>
            <a:ext cx="2514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4748B"/>
                </a:solidFill>
              </a:rPr>
              <a:t>gpt-4o-mini as judge
Faithfulness + Relevancy
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46120" y="3730752"/>
            <a:ext cx="54864" cy="2331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8328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LangFuse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Full pipeline tracing
Token cost tracking
User feedback logging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172200" y="3730752"/>
            <a:ext cx="54864" cy="2331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9399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Gradio 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Streaming interface
Kazakh / English / Russian
Real-time agent trace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9828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098280" y="3730752"/>
            <a:ext cx="54864" cy="2331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3544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2007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Knowledge Base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Upload your own PDFs &amp; DOCX
4 Kazakhstan legal codes
Auto-indexed at runtime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7"/>
                </a:solidFill>
              </a:rPr>
              <a:t>Agentic RAG with retry loop — 11 nodes, 7 agents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F77E82-4F10-F16A-B1F4-6AF625287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68" y="1188720"/>
            <a:ext cx="10902889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Live Demo</a:t>
            </a:r>
          </a:p>
        </p:txBody>
      </p:sp>
      <p:pic>
        <p:nvPicPr>
          <p:cNvPr id="4" name="Picture 3" descr="ui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68680"/>
            <a:ext cx="11823192" cy="58704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366</Words>
  <Application>Microsoft Office PowerPoint</Application>
  <PresentationFormat>Произвольный</PresentationFormat>
  <Paragraphs>82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Guldana Kassym-Ashim</cp:lastModifiedBy>
  <cp:revision>3</cp:revision>
  <dcterms:created xsi:type="dcterms:W3CDTF">2013-01-27T09:14:16Z</dcterms:created>
  <dcterms:modified xsi:type="dcterms:W3CDTF">2026-05-07T16:16:26Z</dcterms:modified>
  <cp:category/>
</cp:coreProperties>
</file>