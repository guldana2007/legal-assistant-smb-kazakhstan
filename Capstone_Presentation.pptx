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48472" y="0"/>
            <a:ext cx="54864" cy="6858000"/>
          </a:xfrm>
          <a:prstGeom prst="rect">
            <a:avLst/>
          </a:prstGeom>
          <a:solidFill>
            <a:srgbClr val="14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4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Legal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3B82F6"/>
                </a:solidFill>
              </a:rPr>
              <a:t>for SMB Kazakhstan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5029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3C5FD"/>
                </a:solidFill>
              </a:rPr>
              <a:t>Agentic RAG  |  Multilingual  |  Live Government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Guldana Kassym-Ashim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EPAM  Generative AI for Software Development  May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83480"/>
            <a:ext cx="2542032" cy="658368"/>
          </a:xfrm>
          <a:prstGeom prst="roundRect">
            <a:avLst>
              <a:gd name="adj" fmla="val 7000"/>
            </a:avLst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50932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056632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Agentic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4924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Retry loop, 3 attempts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983480"/>
            <a:ext cx="2542032" cy="658368"/>
          </a:xfrm>
          <a:prstGeom prst="roundRect">
            <a:avLst>
              <a:gd name="adj" fmla="val 7000"/>
            </a:avLst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08960" y="4983480"/>
            <a:ext cx="54864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36976" y="50932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5056632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MCP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534924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Live gov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983480"/>
            <a:ext cx="2542032" cy="658368"/>
          </a:xfrm>
          <a:prstGeom prst="roundRect">
            <a:avLst>
              <a:gd name="adj" fmla="val 7000"/>
            </a:avLst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0" y="4983480"/>
            <a:ext cx="54864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8736" y="50932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5056632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RAGAS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5349240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Quality per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733288"/>
            <a:ext cx="2542032" cy="658368"/>
          </a:xfrm>
          <a:prstGeom prst="roundRect">
            <a:avLst>
              <a:gd name="adj" fmla="val 7000"/>
            </a:avLst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733288"/>
            <a:ext cx="54864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" y="58430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806440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Multilingual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609904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Kazakh / English / Russian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5733288"/>
            <a:ext cx="2542032" cy="658368"/>
          </a:xfrm>
          <a:prstGeom prst="roundRect">
            <a:avLst>
              <a:gd name="adj" fmla="val 7000"/>
            </a:avLst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108960" y="5733288"/>
            <a:ext cx="54864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36976" y="58430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2" y="5806440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LangFuse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2" y="609904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Full observability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5733288"/>
            <a:ext cx="2542032" cy="658368"/>
          </a:xfrm>
          <a:prstGeom prst="roundRect">
            <a:avLst>
              <a:gd name="adj" fmla="val 7000"/>
            </a:avLst>
          </a:prstGeom>
          <a:solidFill>
            <a:srgbClr val="12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0720" y="5733288"/>
            <a:ext cx="54864" cy="658368"/>
          </a:xfrm>
          <a:prstGeom prst="rect">
            <a:avLst/>
          </a:prstGeom>
          <a:solidFill>
            <a:srgbClr val="14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88736" y="58430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5806440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6EBE"/>
                </a:solidFill>
              </a:rPr>
              <a:t>Custom KB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6099048"/>
            <a:ext cx="1901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Upload your own docs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4232" y="1005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1645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Nodes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4232" y="2377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4232" y="3017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AI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14232" y="3749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14232" y="4389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Legal Codes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51206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232" y="5760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Gov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Problem Does This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7"/>
                </a:solidFill>
              </a:rPr>
              <a:t>Legal compliance is expensive and complex for SMBs in Kazakhstan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566160" cy="2377440"/>
          </a:xfrm>
          <a:prstGeom prst="roundRect">
            <a:avLst>
              <a:gd name="adj" fmla="val 7000"/>
            </a:avLst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High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7"/>
                </a:solidFill>
              </a:rPr>
              <a:t>Legal consultations
$50–200 per hour.
SMBs can't afford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34440"/>
            <a:ext cx="3566160" cy="2377440"/>
          </a:xfrm>
          <a:prstGeom prst="roundRect">
            <a:avLst>
              <a:gd name="adj" fmla="val 7000"/>
            </a:avLst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35661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0195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7"/>
                </a:solidFill>
              </a:rPr>
              <a:t>4 legal codes, 2000+ pages.
Laws change constantly.
Hard to stay updated.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566160" cy="2377440"/>
          </a:xfrm>
          <a:prstGeom prst="roundRect">
            <a:avLst>
              <a:gd name="adj" fmla="val 7000"/>
            </a:avLst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23444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325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Language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01952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7"/>
                </a:solidFill>
              </a:rPr>
              <a:t>Kazakh, English, Russian.
No single accessible source.
Errors lead to fines.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673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💰  Cost Comparison &amp; ROI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3566160" cy="1234440"/>
          </a:xfrm>
          <a:prstGeom prst="roundRect">
            <a:avLst>
              <a:gd name="adj" fmla="val 7000"/>
            </a:avLst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👨‍⚖️  Lawyer (1 hour)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$20 – $100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6636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Traditional consultation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206240"/>
            <a:ext cx="3566160" cy="1234440"/>
          </a:xfrm>
          <a:prstGeom prst="roundRect">
            <a:avLst>
              <a:gd name="adj" fmla="val 7000"/>
            </a:avLst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4206240"/>
            <a:ext cx="54864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297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📋  PRG / Paragraf (KZ)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68172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$17 – $45/mo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16636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Kazakhstan legal DB subscription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206240"/>
            <a:ext cx="3566160" cy="1234440"/>
          </a:xfrm>
          <a:prstGeom prst="roundRect">
            <a:avLst>
              <a:gd name="adj" fmla="val 7000"/>
            </a:avLst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420624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4297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🤖  Our AI (1 query)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68172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~$0.01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16636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1,000 queries ≈ $8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77840"/>
            <a:ext cx="11274552" cy="658368"/>
          </a:xfrm>
          <a:prstGeom prst="roundRect">
            <a:avLst>
              <a:gd name="adj" fmla="val 7000"/>
            </a:avLst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65099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ROI: up to 10,000× cheaper than a lawyer  •  Unlimited legal access  •  Answers in seconds, not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7"/>
                </a:solidFill>
              </a:rPr>
              <a:t>Production-grade components — all integrated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6187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4864" cy="2331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399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Agentic orchestration
11 nodes, conditional routing
TypedDict state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6187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261872"/>
            <a:ext cx="54864" cy="2331720"/>
          </a:xfrm>
          <a:prstGeom prst="rect">
            <a:avLst/>
          </a:prstGeom>
          <a:solidFill>
            <a:srgbClr val="14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1399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6EBE"/>
                </a:solidFill>
              </a:rPr>
              <a:t>GPT-4.1-mini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0195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LLM for all agents
Generation, grading
&amp; reasoning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6187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261872"/>
            <a:ext cx="54864" cy="2331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1399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Hybrid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0195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ChromaDB vector search
+ BM25 keyword search
RRF Fusion — best of 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6187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1261872"/>
            <a:ext cx="54864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139903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MCP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0195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Custom FastMCP server
adilet.zan.kz + kgd.gov.kz
+ egov.kz live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73075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730752"/>
            <a:ext cx="54864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86791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RAGAS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70832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</a:rPr>
              <a:t>gpt-4o-mini as judge
Faithfulness + Relevancy
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73075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46120" y="3730752"/>
            <a:ext cx="54864" cy="2331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912" y="386791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LangFuse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37083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Full pipeline tracing
Token cost tracking
User feedback logging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73075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3730752"/>
            <a:ext cx="54864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386791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Gradio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37083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Streaming interface
Kazakh / English / Russian
Real-time agent trace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730752"/>
            <a:ext cx="2788920" cy="23317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98280" y="3730752"/>
            <a:ext cx="54864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544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0072" y="3867912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370832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Upload your own PDFs &amp; DOCX
4 Kazakhstan legal codes
Auto-indexed at runtime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7"/>
                </a:solidFill>
              </a:rPr>
              <a:t>Agentic RAG with retry loop — 11 nodes, 7 agents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F77E82-4F10-F16A-B1F4-6AF625287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68" y="1188720"/>
            <a:ext cx="10902889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Live Demo</a:t>
            </a:r>
          </a:p>
        </p:txBody>
      </p:sp>
      <p:pic>
        <p:nvPicPr>
          <p:cNvPr id="4" name="Picture 3" descr="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11823192" cy="5870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366</Words>
  <Application>Microsoft Office PowerPoint</Application>
  <PresentationFormat>Произвольный</PresentationFormat>
  <Paragraphs>82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Guldana Kassym-Ashim</cp:lastModifiedBy>
  <cp:revision>3</cp:revision>
  <dcterms:created xsi:type="dcterms:W3CDTF">2013-01-27T09:14:16Z</dcterms:created>
  <dcterms:modified xsi:type="dcterms:W3CDTF">2026-05-07T16:16:26Z</dcterms:modified>
  <cp:category/>
</cp:coreProperties>
</file>